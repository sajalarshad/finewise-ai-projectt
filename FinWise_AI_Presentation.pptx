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754880" cy="47548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💰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7889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FinWise AI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03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Personal Financial Analysis &amp; Smart Budget Assistant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LangChain + Streamlit FinTech Programming Assignment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Prototype  •  Not Financial Advice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FinTech startup wants FinWise AI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often lack a clear, structured view of their spending. Generic advice online rarely reflects an individual's actual numbers.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F4F6FC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971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926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spending picture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331012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moves across many categories with no unified view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274320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F4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6537960" y="2971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7269480" y="2926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online advice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269480" y="331012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One-size-fits-all tips ignore an individual's real numbers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57200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F4F6FC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48006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800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754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risk signals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513892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Overspending and debt patterns go unnoticed until it's late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457200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F4F6FC"/>
          </a:solidFill>
          <a:ln/>
        </p:spPr>
      </p:sp>
      <p:sp>
        <p:nvSpPr>
          <p:cNvPr id="21" name="Shape 19"/>
          <p:cNvSpPr/>
          <p:nvPr/>
        </p:nvSpPr>
        <p:spPr>
          <a:xfrm>
            <a:off x="6537960" y="48006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37960" y="4800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7269480" y="4754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goal-linked plan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269480" y="513892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 rarely connects back to a personal financial goal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FinWise AI — LangChain FinTech Prototype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FinWise AI Does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numbers to a structured, educational financial assessment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7335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 categorize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349240" y="1673352"/>
            <a:ext cx="6583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monthly income and 10 expense categories, categorizes spending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587752"/>
            <a:ext cx="566928" cy="566928"/>
          </a:xfrm>
          <a:prstGeom prst="ellipse">
            <a:avLst/>
          </a:prstGeom>
          <a:solidFill>
            <a:srgbClr val="3A456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5877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56946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high-impact areas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2569464"/>
            <a:ext cx="6583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high-expense categories and calculates savings potential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483864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4838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46557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strategy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5349240" y="3465576"/>
            <a:ext cx="6583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budget strategy tied to the user's stated financial goal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379976"/>
            <a:ext cx="566928" cy="566928"/>
          </a:xfrm>
          <a:prstGeom prst="ellipse">
            <a:avLst/>
          </a:prstGeom>
          <a:solidFill>
            <a:srgbClr val="3A456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3799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36168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patterns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4361688"/>
            <a:ext cx="6583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financial-risk signals — high expense ratio, heavy debt load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27608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52760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2578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summary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5349240" y="5257800"/>
            <a:ext cx="6583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clear financial summary — for education only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FinWise AI — LangChain FinTech Prototype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Workflow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user's inputs become an AI-generated dashboard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85216" y="160020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222B5E"/>
          </a:solidFill>
          <a:ln/>
        </p:spPr>
      </p:sp>
      <p:sp>
        <p:nvSpPr>
          <p:cNvPr id="5" name="Shape 3"/>
          <p:cNvSpPr/>
          <p:nvPr/>
        </p:nvSpPr>
        <p:spPr>
          <a:xfrm>
            <a:off x="813816" y="182880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13816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13816" y="24688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data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13816" y="286207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Income, expenses, savings &amp; goal in the Streamlit form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105656" y="24460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DCFC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334256" y="160020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222B5E"/>
          </a:solidFill>
          <a:ln/>
        </p:spPr>
      </p:sp>
      <p:sp>
        <p:nvSpPr>
          <p:cNvPr id="11" name="Shape 9"/>
          <p:cNvSpPr/>
          <p:nvPr/>
        </p:nvSpPr>
        <p:spPr>
          <a:xfrm>
            <a:off x="4562856" y="182880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62856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62856" y="24688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calculates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62856" y="286207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expenses, remaining income, ratios (deterministic)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854696" y="24460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DCFC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083296" y="160020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222B5E"/>
          </a:solidFill>
          <a:ln/>
        </p:spPr>
      </p:sp>
      <p:sp>
        <p:nvSpPr>
          <p:cNvPr id="17" name="Shape 15"/>
          <p:cNvSpPr/>
          <p:nvPr/>
        </p:nvSpPr>
        <p:spPr>
          <a:xfrm>
            <a:off x="8311896" y="182880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11896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311896" y="24688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assembly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8311896" y="286207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inserted dynamically into LangChain prompts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5216" y="406908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222B5E"/>
          </a:solidFill>
          <a:ln/>
        </p:spPr>
      </p:sp>
      <p:sp>
        <p:nvSpPr>
          <p:cNvPr id="22" name="Shape 20"/>
          <p:cNvSpPr/>
          <p:nvPr/>
        </p:nvSpPr>
        <p:spPr>
          <a:xfrm>
            <a:off x="813816" y="429768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13816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813816" y="49377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analyses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813816" y="533095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ChatOpenAI reasons over the user's financial situation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105656" y="49149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DCFC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334256" y="406908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222B5E"/>
          </a:solidFill>
          <a:ln/>
        </p:spPr>
      </p:sp>
      <p:sp>
        <p:nvSpPr>
          <p:cNvPr id="28" name="Shape 26"/>
          <p:cNvSpPr/>
          <p:nvPr/>
        </p:nvSpPr>
        <p:spPr>
          <a:xfrm>
            <a:off x="4562856" y="429768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562856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4562856" y="49377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4562856" y="533095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returns the exact schema — safely parsed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854696" y="49149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DCFC"/>
                </a:solidFill>
              </a:rPr>
              <a:t>→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8083296" y="406908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222B5E"/>
          </a:solidFill>
          <a:ln/>
        </p:spPr>
      </p:sp>
      <p:sp>
        <p:nvSpPr>
          <p:cNvPr id="34" name="Shape 32"/>
          <p:cNvSpPr/>
          <p:nvPr/>
        </p:nvSpPr>
        <p:spPr>
          <a:xfrm>
            <a:off x="8311896" y="429768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311896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8311896" y="49377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renders</a:t>
            </a:r>
            <a:endParaRPr lang="en-US" sz="1450" dirty="0"/>
          </a:p>
        </p:txBody>
      </p:sp>
      <p:sp>
        <p:nvSpPr>
          <p:cNvPr id="37" name="Text 35"/>
          <p:cNvSpPr txBox="1"/>
          <p:nvPr/>
        </p:nvSpPr>
        <p:spPr>
          <a:xfrm>
            <a:off x="8311896" y="533095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shows metrics, health score, risk &amp; plan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FinWise AI — LangChain FinTech Prototype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4F6FC"/>
          </a:solidFill>
          <a:ln/>
        </p:spPr>
      </p:sp>
      <p:sp>
        <p:nvSpPr>
          <p:cNvPr id="4" name="Shape 2"/>
          <p:cNvSpPr/>
          <p:nvPr/>
        </p:nvSpPr>
        <p:spPr>
          <a:xfrm>
            <a:off x="1988820" y="1645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8882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774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715768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25112" y="141732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4F6FC"/>
          </a:solidFill>
          <a:ln/>
        </p:spPr>
      </p:sp>
      <p:sp>
        <p:nvSpPr>
          <p:cNvPr id="9" name="Shape 7"/>
          <p:cNvSpPr/>
          <p:nvPr/>
        </p:nvSpPr>
        <p:spPr>
          <a:xfrm>
            <a:off x="5765292" y="1645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765292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462272" y="23774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07992" y="2715768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langchain, langchain-openai, langchain-community, langchain-core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01584" y="141732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4F6FC"/>
          </a:solidFill>
          <a:ln/>
        </p:spPr>
      </p:sp>
      <p:sp>
        <p:nvSpPr>
          <p:cNvPr id="14" name="Shape 12"/>
          <p:cNvSpPr/>
          <p:nvPr/>
        </p:nvSpPr>
        <p:spPr>
          <a:xfrm>
            <a:off x="9541764" y="1645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541764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8238744" y="23774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(gpt-4o-mini)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84464" y="2715768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provider via ChatOpenAI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47472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4F6FC"/>
          </a:solidFill>
          <a:ln/>
        </p:spPr>
      </p:sp>
      <p:sp>
        <p:nvSpPr>
          <p:cNvPr id="19" name="Shape 17"/>
          <p:cNvSpPr/>
          <p:nvPr/>
        </p:nvSpPr>
        <p:spPr>
          <a:xfrm>
            <a:off x="1988820" y="37033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988820" y="3703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44348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4773168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FinTech dashboard UI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25112" y="347472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4F6FC"/>
          </a:solidFill>
          <a:ln/>
        </p:spPr>
      </p:sp>
      <p:sp>
        <p:nvSpPr>
          <p:cNvPr id="24" name="Shape 22"/>
          <p:cNvSpPr/>
          <p:nvPr/>
        </p:nvSpPr>
        <p:spPr>
          <a:xfrm>
            <a:off x="5765292" y="37033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765292" y="3703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4462272" y="44348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507992" y="4773168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via .env file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101584" y="347472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4F6FC"/>
          </a:solidFill>
          <a:ln/>
        </p:spPr>
      </p:sp>
      <p:sp>
        <p:nvSpPr>
          <p:cNvPr id="29" name="Shape 27"/>
          <p:cNvSpPr/>
          <p:nvPr/>
        </p:nvSpPr>
        <p:spPr>
          <a:xfrm>
            <a:off x="9541764" y="37033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541764" y="3703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</a:t>
            </a:r>
            <a:endParaRPr lang="en-US" sz="2600" dirty="0"/>
          </a:p>
        </p:txBody>
      </p:sp>
      <p:sp>
        <p:nvSpPr>
          <p:cNvPr id="31" name="Text 29"/>
          <p:cNvSpPr txBox="1"/>
          <p:nvPr/>
        </p:nvSpPr>
        <p:spPr>
          <a:xfrm>
            <a:off x="8238744" y="44348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InMemoryCache + SQLiteCache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284464" y="4773168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caching layer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FinWise AI — LangChain FinTech Prototype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Math vs. Generative Insight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clearly separated layers keep the app trustworthy AND useful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4572000"/>
          </a:xfrm>
          <a:prstGeom prst="roundRect">
            <a:avLst>
              <a:gd name="adj" fmla="val 2000"/>
            </a:avLst>
          </a:prstGeom>
          <a:solidFill>
            <a:srgbClr val="EAF3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74520"/>
            <a:ext cx="594360" cy="594360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874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92024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financial_calculator.py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060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Deterministic. Same inputs → same outputs. No API call.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1546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E5A"/>
                </a:solidFill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31546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expenses (sum of 10 categories)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59359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E5A"/>
                </a:solidFill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59359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income after expenses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03250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E5A"/>
                </a:solidFill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403250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ratio &amp; expense ratio (%)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47141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E5A"/>
                </a:solidFill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447141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ratio (loan/debt share of income)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491032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E5A"/>
                </a:solidFill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91032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0–100 preliminary score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5349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E5A"/>
                </a:solidFill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53492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Divide-by-zero guards on $0 income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63640" y="1554480"/>
            <a:ext cx="5349240" cy="4572000"/>
          </a:xfrm>
          <a:prstGeom prst="roundRect">
            <a:avLst>
              <a:gd name="adj" fmla="val 2000"/>
            </a:avLst>
          </a:prstGeom>
          <a:solidFill>
            <a:srgbClr val="EAEEFA"/>
          </a:solidFill>
          <a:ln/>
        </p:spPr>
      </p:sp>
      <p:sp>
        <p:nvSpPr>
          <p:cNvPr id="22" name="Shape 20"/>
          <p:cNvSpPr/>
          <p:nvPr/>
        </p:nvSpPr>
        <p:spPr>
          <a:xfrm>
            <a:off x="6583680" y="18745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83680" y="1874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0" y="192024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+ OpenAI — chains.py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0" y="26060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Generative. Adds context &amp; plain-language guidance on top of the math.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583680" y="31546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903720" y="31546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financial health score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583680" y="359359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✓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903720" y="359359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level: LOW / MEDIUM / HIGH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6583680" y="403250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✓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903720" y="403250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observations &amp; recommendations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6583680" y="447141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✓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903720" y="447141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priorities &amp; budget recommendations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6583680" y="491032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✓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903720" y="491032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strategy &amp; next-month action plan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6583680" y="5349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✓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903720" y="53492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Streamed narrative summary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FinWise AI — LangChain FinTech Prototype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LangChain Building Blocks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required concept from the assignment, implemented in prompts.py &amp; chains.py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4315968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09344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ChatOpenAI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1609344"/>
            <a:ext cx="7223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the app to the OpenAI chat model (gpt-4o-mini)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157984"/>
            <a:ext cx="11064240" cy="0"/>
          </a:xfrm>
          <a:prstGeom prst="line">
            <a:avLst/>
          </a:prstGeom>
          <a:noFill/>
          <a:ln w="12700">
            <a:solidFill>
              <a:srgbClr val="DCE2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212848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SystemMessage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2212848"/>
            <a:ext cx="7223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educational financial-assistant role + safety rules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761488"/>
            <a:ext cx="11064240" cy="0"/>
          </a:xfrm>
          <a:prstGeom prst="line">
            <a:avLst/>
          </a:prstGeom>
          <a:noFill/>
          <a:ln w="12700">
            <a:solidFill>
              <a:srgbClr val="DCE2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816352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HumanMessage / AIMessage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2816352"/>
            <a:ext cx="7223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user turns and assistant replies in a conversation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364992"/>
            <a:ext cx="11064240" cy="0"/>
          </a:xfrm>
          <a:prstGeom prst="line">
            <a:avLst/>
          </a:prstGeom>
          <a:noFill/>
          <a:ln w="12700">
            <a:solidFill>
              <a:srgbClr val="DCE2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419856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PromptTemplate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3419856"/>
            <a:ext cx="7223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single-string template with all financial variables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968496"/>
            <a:ext cx="11064240" cy="0"/>
          </a:xfrm>
          <a:prstGeom prst="line">
            <a:avLst/>
          </a:prstGeom>
          <a:noFill/>
          <a:ln w="12700">
            <a:solidFill>
              <a:srgbClr val="DCE2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023360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ChatPromptTemplate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206240" y="4023360"/>
            <a:ext cx="7223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system safety rules with dynamically inserted user data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572000"/>
            <a:ext cx="11064240" cy="0"/>
          </a:xfrm>
          <a:prstGeom prst="line">
            <a:avLst/>
          </a:prstGeom>
          <a:noFill/>
          <a:ln w="12700">
            <a:solidFill>
              <a:srgbClr val="DCE2F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626864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LLMChain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4206240" y="4626864"/>
            <a:ext cx="7223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chain that runs the structured financial analysis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175504"/>
            <a:ext cx="11064240" cy="0"/>
          </a:xfrm>
          <a:prstGeom prst="line">
            <a:avLst/>
          </a:prstGeom>
          <a:noFill/>
          <a:ln w="12700">
            <a:solidFill>
              <a:srgbClr val="DCE2F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5230368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Output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4206240" y="5230368"/>
            <a:ext cx="7223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returns the exact schema; parsed safely with fallbacks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FinWise AI — LangChain FinTech Prototype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JSON Output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must return this exact schema — validated &amp; safely parsed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852160" cy="4617720"/>
          </a:xfrm>
          <a:prstGeom prst="roundRect">
            <a:avLst>
              <a:gd name="adj" fmla="val 1584"/>
            </a:avLst>
          </a:prstGeom>
          <a:solidFill>
            <a:srgbClr val="0F163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530352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"financial_summary": "",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"financial_health_score": 0,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"spending_analysis": [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"category": "", "observation": "",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"recommendation": "" 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"risk_level": "",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"top_priorities": [],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"budget_recommendations": [],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"savings_strategy": [],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"next_month_action_plan": []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720840" y="1554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Bands (educational only)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720840" y="2057400"/>
            <a:ext cx="4937760" cy="384048"/>
          </a:xfrm>
          <a:prstGeom prst="roundRect">
            <a:avLst>
              <a:gd name="adj" fmla="val 14286"/>
            </a:avLst>
          </a:prstGeom>
          <a:solidFill>
            <a:srgbClr val="222B5E"/>
          </a:solidFill>
          <a:ln/>
        </p:spPr>
      </p:sp>
      <p:sp>
        <p:nvSpPr>
          <p:cNvPr id="8" name="Shape 6"/>
          <p:cNvSpPr/>
          <p:nvPr/>
        </p:nvSpPr>
        <p:spPr>
          <a:xfrm>
            <a:off x="6830568" y="2139696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1E8E5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78040" y="20574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80–100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0574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720840" y="2560320"/>
            <a:ext cx="4937760" cy="384048"/>
          </a:xfrm>
          <a:prstGeom prst="roundRect">
            <a:avLst>
              <a:gd name="adj" fmla="val 14286"/>
            </a:avLst>
          </a:prstGeom>
          <a:solidFill>
            <a:srgbClr val="222B5E"/>
          </a:solidFill>
          <a:ln/>
        </p:spPr>
      </p:sp>
      <p:sp>
        <p:nvSpPr>
          <p:cNvPr id="12" name="Shape 10"/>
          <p:cNvSpPr/>
          <p:nvPr/>
        </p:nvSpPr>
        <p:spPr>
          <a:xfrm>
            <a:off x="6830568" y="2642616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3D8BD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178040" y="25603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60–79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25603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Generally healthy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720840" y="3063240"/>
            <a:ext cx="4937760" cy="384048"/>
          </a:xfrm>
          <a:prstGeom prst="roundRect">
            <a:avLst>
              <a:gd name="adj" fmla="val 14286"/>
            </a:avLst>
          </a:prstGeom>
          <a:solidFill>
            <a:srgbClr val="222B5E"/>
          </a:solidFill>
          <a:ln/>
        </p:spPr>
      </p:sp>
      <p:sp>
        <p:nvSpPr>
          <p:cNvPr id="16" name="Shape 14"/>
          <p:cNvSpPr/>
          <p:nvPr/>
        </p:nvSpPr>
        <p:spPr>
          <a:xfrm>
            <a:off x="6830568" y="3145536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78040" y="30632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40–59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30632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improvement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720840" y="3566160"/>
            <a:ext cx="4937760" cy="384048"/>
          </a:xfrm>
          <a:prstGeom prst="roundRect">
            <a:avLst>
              <a:gd name="adj" fmla="val 14286"/>
            </a:avLst>
          </a:prstGeom>
          <a:solidFill>
            <a:srgbClr val="222B5E"/>
          </a:solidFill>
          <a:ln/>
        </p:spPr>
      </p:sp>
      <p:sp>
        <p:nvSpPr>
          <p:cNvPr id="20" name="Shape 18"/>
          <p:cNvSpPr/>
          <p:nvPr/>
        </p:nvSpPr>
        <p:spPr>
          <a:xfrm>
            <a:off x="6830568" y="3648456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B8433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78040" y="35661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0–39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35661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attention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720840" y="4069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parsing (utils.py)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720840" y="448056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•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976872" y="44805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Strips markdown code fences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720840" y="4864608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•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976872" y="486460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the outer { ... } block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720840" y="5248656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•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976872" y="524865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to safe defaults on invalid JSON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720840" y="5632704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•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976872" y="563270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crashes the Streamlit UI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FinWise AI — LangChain FinTech Prototype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Streamlit Dashboard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6949440" cy="4892040"/>
          </a:xfrm>
          <a:prstGeom prst="roundRect">
            <a:avLst>
              <a:gd name="adj" fmla="val 1121"/>
            </a:avLst>
          </a:prstGeom>
          <a:solidFill>
            <a:srgbClr val="F7F8FC"/>
          </a:solidFill>
          <a:ln w="12700">
            <a:solidFill>
              <a:srgbClr val="D7DC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694944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362456"/>
            <a:ext cx="118872" cy="11887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" y="1362456"/>
            <a:ext cx="118872" cy="118872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7" name="Shape 5"/>
          <p:cNvSpPr/>
          <p:nvPr/>
        </p:nvSpPr>
        <p:spPr>
          <a:xfrm>
            <a:off x="1225296" y="1362456"/>
            <a:ext cx="118872" cy="11887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600200"/>
            <a:ext cx="1737360" cy="4526280"/>
          </a:xfrm>
          <a:prstGeom prst="rect">
            <a:avLst/>
          </a:prstGeom>
          <a:solidFill>
            <a:srgbClr val="EDF0F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17373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FinWise AI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settings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2651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selector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3108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session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3566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468880" y="1783080"/>
            <a:ext cx="10972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1E5F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542032" y="185623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2542032" y="210312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$5,000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0" y="1783080"/>
            <a:ext cx="10972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1E5F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730752" y="185623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3730752" y="210312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$3,200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1783080"/>
            <a:ext cx="10972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1E5F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19472" y="185623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4919472" y="210312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$1,800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035040" y="1783080"/>
            <a:ext cx="10972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1E5F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108192" y="185623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6108192" y="210312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2468880" y="2743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Financial Health Score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468880" y="3044952"/>
            <a:ext cx="4663440" cy="201168"/>
          </a:xfrm>
          <a:prstGeom prst="roundRect">
            <a:avLst>
              <a:gd name="adj" fmla="val 13636"/>
            </a:avLst>
          </a:prstGeom>
          <a:solidFill>
            <a:srgbClr val="E1E5F3"/>
          </a:solidFill>
          <a:ln/>
        </p:spPr>
      </p:sp>
      <p:sp>
        <p:nvSpPr>
          <p:cNvPr id="28" name="Shape 26"/>
          <p:cNvSpPr/>
          <p:nvPr/>
        </p:nvSpPr>
        <p:spPr>
          <a:xfrm>
            <a:off x="2468880" y="3044952"/>
            <a:ext cx="3383280" cy="201168"/>
          </a:xfrm>
          <a:prstGeom prst="roundRect">
            <a:avLst>
              <a:gd name="adj" fmla="val 13636"/>
            </a:avLst>
          </a:prstGeom>
          <a:solidFill>
            <a:srgbClr val="1E8E5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2468880" y="33009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/ 100 — Generally Healthy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468880" y="3703320"/>
            <a:ext cx="1005840" cy="32004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2468880" y="37033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547872" y="3703320"/>
            <a:ext cx="1005840" cy="320040"/>
          </a:xfrm>
          <a:prstGeom prst="roundRect">
            <a:avLst>
              <a:gd name="adj" fmla="val 11429"/>
            </a:avLst>
          </a:prstGeom>
          <a:solidFill>
            <a:srgbClr val="EDF0F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547872" y="37033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Recs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626864" y="3703320"/>
            <a:ext cx="1005840" cy="320040"/>
          </a:xfrm>
          <a:prstGeom prst="roundRect">
            <a:avLst>
              <a:gd name="adj" fmla="val 11429"/>
            </a:avLst>
          </a:prstGeom>
          <a:solidFill>
            <a:srgbClr val="EDF0F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626864" y="37033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705856" y="3703320"/>
            <a:ext cx="1005840" cy="320040"/>
          </a:xfrm>
          <a:prstGeom prst="roundRect">
            <a:avLst>
              <a:gd name="adj" fmla="val 11429"/>
            </a:avLst>
          </a:prstGeom>
          <a:solidFill>
            <a:srgbClr val="EDF0F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705856" y="37033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2468880" y="4251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 a 3-month emergency buffer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2468880" y="45994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 transfers to savings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2468880" y="494690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Trim discretionary spending 10%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772400" y="14173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777240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2000" dirty="0"/>
          </a:p>
        </p:txBody>
      </p:sp>
      <p:sp>
        <p:nvSpPr>
          <p:cNvPr id="43" name="Text 41"/>
          <p:cNvSpPr txBox="1"/>
          <p:nvPr/>
        </p:nvSpPr>
        <p:spPr>
          <a:xfrm>
            <a:off x="8458200" y="13990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input form</a:t>
            </a:r>
            <a:endParaRPr lang="en-US" sz="1350" dirty="0"/>
          </a:p>
        </p:txBody>
      </p:sp>
      <p:sp>
        <p:nvSpPr>
          <p:cNvPr id="44" name="Text 42"/>
          <p:cNvSpPr txBox="1"/>
          <p:nvPr/>
        </p:nvSpPr>
        <p:spPr>
          <a:xfrm>
            <a:off x="8458200" y="1764792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Columns, expanders &amp; a submit form for all 10 expense categories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772400" y="25877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7772400" y="2587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000" dirty="0"/>
          </a:p>
        </p:txBody>
      </p:sp>
      <p:sp>
        <p:nvSpPr>
          <p:cNvPr id="47" name="Text 45"/>
          <p:cNvSpPr txBox="1"/>
          <p:nvPr/>
        </p:nvSpPr>
        <p:spPr>
          <a:xfrm>
            <a:off x="8458200" y="256946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metrics</a:t>
            </a:r>
            <a:endParaRPr lang="en-US" sz="1350" dirty="0"/>
          </a:p>
        </p:txBody>
      </p:sp>
      <p:sp>
        <p:nvSpPr>
          <p:cNvPr id="48" name="Text 46"/>
          <p:cNvSpPr txBox="1"/>
          <p:nvPr/>
        </p:nvSpPr>
        <p:spPr>
          <a:xfrm>
            <a:off x="8458200" y="2935224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st.metric cards for income, expenses, balance &amp; savings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772400" y="375818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7772400" y="3758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000" dirty="0"/>
          </a:p>
        </p:txBody>
      </p:sp>
      <p:sp>
        <p:nvSpPr>
          <p:cNvPr id="51" name="Text 49"/>
          <p:cNvSpPr txBox="1"/>
          <p:nvPr/>
        </p:nvSpPr>
        <p:spPr>
          <a:xfrm>
            <a:off x="8458200" y="37398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&amp; risk</a:t>
            </a:r>
            <a:endParaRPr lang="en-US" sz="1350" dirty="0"/>
          </a:p>
        </p:txBody>
      </p:sp>
      <p:sp>
        <p:nvSpPr>
          <p:cNvPr id="52" name="Text 50"/>
          <p:cNvSpPr txBox="1"/>
          <p:nvPr/>
        </p:nvSpPr>
        <p:spPr>
          <a:xfrm>
            <a:off x="8458200" y="4105656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bar + LOW/MEDIUM/HIGH risk badges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772400" y="492861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7772400" y="49286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2000" dirty="0"/>
          </a:p>
        </p:txBody>
      </p:sp>
      <p:sp>
        <p:nvSpPr>
          <p:cNvPr id="55" name="Text 53"/>
          <p:cNvSpPr txBox="1"/>
          <p:nvPr/>
        </p:nvSpPr>
        <p:spPr>
          <a:xfrm>
            <a:off x="8458200" y="49103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Streamed narrative</a:t>
            </a:r>
            <a:endParaRPr lang="en-US" sz="1350" dirty="0"/>
          </a:p>
        </p:txBody>
      </p:sp>
      <p:sp>
        <p:nvSpPr>
          <p:cNvPr id="56" name="Text 54"/>
          <p:cNvSpPr txBox="1"/>
          <p:nvPr/>
        </p:nvSpPr>
        <p:spPr>
          <a:xfrm>
            <a:off x="8458200" y="527608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st.write_stream() gives a natural typing effect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FinWise AI — LangChain FinTech Prototype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 Caching Strategy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set_llm_cache(...) registers one global cache — LangChain checks it before every call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116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207568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InMemoryCache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926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788920" y="2926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(in-process memory)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520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3520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114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restart?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788920" y="4114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709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788920" y="4709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active session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169164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F4F6FC"/>
          </a:solidFill>
          <a:ln/>
        </p:spPr>
      </p:sp>
      <p:sp>
        <p:nvSpPr>
          <p:cNvPr id="17" name="Shape 15"/>
          <p:cNvSpPr/>
          <p:nvPr/>
        </p:nvSpPr>
        <p:spPr>
          <a:xfrm>
            <a:off x="6629400" y="2011680"/>
            <a:ext cx="640080" cy="640080"/>
          </a:xfrm>
          <a:prstGeom prst="ellipse">
            <a:avLst/>
          </a:prstGeom>
          <a:solidFill>
            <a:srgbClr val="3A456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2940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7452360" y="207568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SQLiteCache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2926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503920" y="2926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.db file on disk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629400" y="3520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503920" y="3520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slightly slower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629400" y="4114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restart?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503920" y="4114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629400" y="4709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503920" y="4709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Reusing across sessions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Repeating the same prompt skips the API call entirely — faster responses, lower cost.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FinWise AI — LangChain FinTech Prototype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Scenarios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inputs used to validate calculations and AI responses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4572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00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6002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4434840" y="16002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Calculation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726680" y="1600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AI Response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0332720" y="16002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057400"/>
            <a:ext cx="11064240" cy="77724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057400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205740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$8,000, expenses ~$2,000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205740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positive remaining; high savings ratio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726680" y="20574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score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0332720" y="205740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834640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283464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$2,000, expenses ~$2,600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434840" y="283464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remaining; expense ratio &gt;100%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726680" y="28346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score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0332720" y="28346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4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611880"/>
            <a:ext cx="11064240" cy="77724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3611880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36118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$5,000, debt $2,500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434840" y="36118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debt share of income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726680" y="36118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Debt-reduction priorities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10332720" y="361188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MED/HIGH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4389120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" y="43891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$4,000, savings $1,200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434840" y="43891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ratio ~30%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7726680" y="43891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score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10332720" y="438912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5166360"/>
            <a:ext cx="11064240" cy="77724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0080" y="5166360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1143000" y="51663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$3,000, expenses $3,000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4434840" y="51663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= $0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7726680" y="51663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room to save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10332720" y="516636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MED/HIGH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FinWise AI — LangChain FinTech Prototype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229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508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FinWise AI — built with LangChain + Streamlit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317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UI/UX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3703320" y="23317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4434840" y="23317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calculations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315200" y="23317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046720" y="23317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ChatOpenAI integration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10927080" y="23317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71576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PromptTemplate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703320" y="271576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271576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ChatPromptTemplate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271576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046720" y="271576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LLMChain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0927080" y="271576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09981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703320" y="309981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434840" y="309981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309981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046720" y="309981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10927080" y="309981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348386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3703320" y="348386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40050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100 marks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22960" y="5074920"/>
            <a:ext cx="10515600" cy="0"/>
          </a:xfrm>
          <a:prstGeom prst="line">
            <a:avLst/>
          </a:prstGeom>
          <a:noFill/>
          <a:ln w="12700">
            <a:solidFill>
              <a:srgbClr val="3A456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5257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Educational prototype only — not financial advice, no real transactions, no guaranteed outcomes.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+ demo submission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2026-08-30T13:57:38Z</dcterms:created>
  <dcterms:modified xsi:type="dcterms:W3CDTF">2026-08-30T13:57:38Z</dcterms:modified>
</cp:coreProperties>
</file>